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"/>
            <a:ext cx="7315200" cy="4572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Calibri"/>
              </a:defRPr>
            </a:pPr>
            <a:r>
              <a:t>LNA Nova — Target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9144000" cy="32004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300" b="0">
                <a:solidFill>
                  <a:srgbClr val="777799"/>
                </a:solidFill>
                <a:latin typeface="Calibri"/>
              </a:defRPr>
            </a:pPr>
            <a:r>
              <a:t>Topic → Flow → Prompt Template pattern for all four cadence stages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251960" y="1051560"/>
            <a:ext cx="3657600" cy="594360"/>
          </a:xfrm>
          <a:prstGeom prst="roundRect">
            <a:avLst/>
          </a:prstGeom>
          <a:solidFill>
            <a:srgbClr val="2A1A3D"/>
          </a:solidFill>
          <a:ln w="1905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361688" y="1106424"/>
            <a:ext cx="914400" cy="201168"/>
          </a:xfrm>
          <a:prstGeom prst="round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ORCHESTRATOR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51960" y="1280160"/>
            <a:ext cx="3657600" cy="34747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Sales Cadence Orchestrator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" y="1645920"/>
            <a:ext cx="0" cy="365760"/>
          </a:xfrm>
          <a:prstGeom prst="line">
            <a:avLst/>
          </a:prstGeom>
          <a:ln w="25400">
            <a:solidFill>
              <a:srgbClr val="555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5623560" y="1645920"/>
            <a:ext cx="0" cy="365760"/>
          </a:xfrm>
          <a:prstGeom prst="line">
            <a:avLst/>
          </a:prstGeom>
          <a:ln w="25400">
            <a:solidFill>
              <a:srgbClr val="555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183880" y="1645920"/>
            <a:ext cx="0" cy="365760"/>
          </a:xfrm>
          <a:prstGeom prst="line">
            <a:avLst/>
          </a:prstGeom>
          <a:ln w="25400">
            <a:solidFill>
              <a:srgbClr val="55557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2240280" y="1719072"/>
            <a:ext cx="100584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900" b="1">
                <a:solidFill>
                  <a:srgbClr val="4E9AF5"/>
                </a:solidFill>
                <a:latin typeface="Consolas"/>
              </a:defRPr>
            </a:pPr>
            <a:r>
              <a:t>Stage = Intro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719072"/>
            <a:ext cx="100584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900" b="1">
                <a:solidFill>
                  <a:srgbClr val="4E9AF5"/>
                </a:solidFill>
                <a:latin typeface="Consolas"/>
              </a:defRPr>
            </a:pPr>
            <a:r>
              <a:t>Stage = Nudge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0" y="1719072"/>
            <a:ext cx="100584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900" b="1">
                <a:solidFill>
                  <a:srgbClr val="E85D75"/>
                </a:solidFill>
                <a:latin typeface="Consolas"/>
              </a:defRPr>
            </a:pPr>
            <a:r>
              <a:t>Stage = Reply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14400" y="2011680"/>
            <a:ext cx="2194560" cy="822960"/>
          </a:xfrm>
          <a:prstGeom prst="roundRect">
            <a:avLst/>
          </a:prstGeom>
          <a:solidFill>
            <a:srgbClr val="0D2B45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05840" y="2084832"/>
            <a:ext cx="640080" cy="201168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286000"/>
            <a:ext cx="21945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Initial Outreach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42032"/>
            <a:ext cx="21945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900" b="0">
                <a:solidFill>
                  <a:srgbClr val="777799"/>
                </a:solidFill>
                <a:latin typeface="Calibri"/>
              </a:defRPr>
            </a:pPr>
            <a:r>
              <a:t>Topic  ·  2 instructions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94760" y="2011680"/>
            <a:ext cx="2194560" cy="822960"/>
          </a:xfrm>
          <a:prstGeom prst="roundRect">
            <a:avLst/>
          </a:prstGeom>
          <a:solidFill>
            <a:srgbClr val="0D2B45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886200" y="2084832"/>
            <a:ext cx="640080" cy="201168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94760" y="2286000"/>
            <a:ext cx="21945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Follow-up Outreach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94760" y="2542032"/>
            <a:ext cx="21945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900" b="0">
                <a:solidFill>
                  <a:srgbClr val="777799"/>
                </a:solidFill>
                <a:latin typeface="Calibri"/>
              </a:defRPr>
            </a:pPr>
            <a:r>
              <a:t>Topic  ·  2 instructions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675120" y="2011680"/>
            <a:ext cx="2194560" cy="822960"/>
          </a:xfrm>
          <a:prstGeom prst="roundRect">
            <a:avLst/>
          </a:prstGeom>
          <a:solidFill>
            <a:srgbClr val="2D1A1A"/>
          </a:solidFill>
          <a:ln w="19050">
            <a:solidFill>
              <a:srgbClr val="E85D7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766560" y="2084832"/>
            <a:ext cx="640080" cy="20116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ROUTER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286000"/>
            <a:ext cx="219456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Calibri"/>
              </a:defRPr>
            </a:pPr>
            <a:r>
              <a:t>Reply Router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542032"/>
            <a:ext cx="219456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900" b="0">
                <a:solidFill>
                  <a:srgbClr val="777799"/>
                </a:solidFill>
                <a:latin typeface="Calibri"/>
              </a:defRPr>
            </a:pPr>
            <a:r>
              <a:t>Planner selects topic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7315200" y="2834640"/>
            <a:ext cx="0" cy="182880"/>
          </a:xfrm>
          <a:prstGeom prst="line">
            <a:avLst/>
          </a:prstGeom>
          <a:ln w="25400">
            <a:solidFill>
              <a:srgbClr val="E85D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9692640" y="2834640"/>
            <a:ext cx="0" cy="182880"/>
          </a:xfrm>
          <a:prstGeom prst="line">
            <a:avLst/>
          </a:prstGeom>
          <a:ln w="25400">
            <a:solidFill>
              <a:srgbClr val="E85D7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7315200" y="3017520"/>
            <a:ext cx="2377440" cy="0"/>
          </a:xfrm>
          <a:prstGeom prst="line">
            <a:avLst/>
          </a:prstGeom>
          <a:ln w="25400">
            <a:solidFill>
              <a:srgbClr val="E85D7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446520" y="3063240"/>
            <a:ext cx="1920240" cy="777240"/>
          </a:xfrm>
          <a:prstGeom prst="roundRect">
            <a:avLst/>
          </a:prstGeom>
          <a:solidFill>
            <a:srgbClr val="0D2B45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519672" y="3118104"/>
            <a:ext cx="640080" cy="201168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46520" y="3319272"/>
            <a:ext cx="19202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Meeting Response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46520" y="3566160"/>
            <a:ext cx="1920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900" b="0">
                <a:solidFill>
                  <a:srgbClr val="777799"/>
                </a:solidFill>
                <a:latin typeface="Calibri"/>
              </a:defRPr>
            </a:pPr>
            <a:r>
              <a:t>Topic  ·  2 instr.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69680" y="3063240"/>
            <a:ext cx="1920240" cy="777240"/>
          </a:xfrm>
          <a:prstGeom prst="roundRect">
            <a:avLst/>
          </a:prstGeom>
          <a:solidFill>
            <a:srgbClr val="0D2B45"/>
          </a:solidFill>
          <a:ln w="19050">
            <a:solidFill>
              <a:srgbClr val="4E9A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942832" y="3118104"/>
            <a:ext cx="640080" cy="201168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3319272"/>
            <a:ext cx="1920240" cy="256032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Calibri"/>
              </a:defRPr>
            </a:pPr>
            <a:r>
              <a:t>Manage Opt-Out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869680" y="3566160"/>
            <a:ext cx="1920240" cy="20116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900" b="0">
                <a:solidFill>
                  <a:srgbClr val="777799"/>
                </a:solidFill>
                <a:latin typeface="Calibri"/>
              </a:defRPr>
            </a:pPr>
            <a:r>
              <a:t>Topic  ·  2 instr.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2011680" y="2834640"/>
            <a:ext cx="0" cy="1325880"/>
          </a:xfrm>
          <a:prstGeom prst="line">
            <a:avLst/>
          </a:prstGeom>
          <a:ln w="25400">
            <a:solidFill>
              <a:srgbClr val="4E9A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4892040" y="2834640"/>
            <a:ext cx="0" cy="1325880"/>
          </a:xfrm>
          <a:prstGeom prst="line">
            <a:avLst/>
          </a:prstGeom>
          <a:ln w="25400">
            <a:solidFill>
              <a:srgbClr val="4E9A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7406640" y="3840480"/>
            <a:ext cx="0" cy="320040"/>
          </a:xfrm>
          <a:prstGeom prst="line">
            <a:avLst/>
          </a:prstGeom>
          <a:ln w="25400">
            <a:solidFill>
              <a:srgbClr val="4E9A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9829800" y="3840480"/>
            <a:ext cx="0" cy="320040"/>
          </a:xfrm>
          <a:prstGeom prst="line">
            <a:avLst/>
          </a:prstGeom>
          <a:ln w="25400">
            <a:solidFill>
              <a:srgbClr val="4E9AF5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914400" y="4160520"/>
            <a:ext cx="2194560" cy="777240"/>
          </a:xfrm>
          <a:prstGeom prst="roundRect">
            <a:avLst/>
          </a:prstGeom>
          <a:solidFill>
            <a:srgbClr val="0D3B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1005840" y="4215384"/>
            <a:ext cx="640080" cy="20116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416552"/>
            <a:ext cx="2194560" cy="475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LNA_Nova_</a:t>
            </a:r>
            <a:br/>
            <a:r>
              <a:t>Initial_Outreach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794760" y="4160520"/>
            <a:ext cx="2194560" cy="777240"/>
          </a:xfrm>
          <a:prstGeom prst="roundRect">
            <a:avLst/>
          </a:prstGeom>
          <a:solidFill>
            <a:srgbClr val="0D3B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3886200" y="4215384"/>
            <a:ext cx="640080" cy="20116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794760" y="4416552"/>
            <a:ext cx="2194560" cy="475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LNA_Nova_</a:t>
            </a:r>
            <a:br/>
            <a:r>
              <a:t>Follow_Up_Nudge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400800" y="4160520"/>
            <a:ext cx="2194560" cy="777240"/>
          </a:xfrm>
          <a:prstGeom prst="roundRect">
            <a:avLst/>
          </a:prstGeom>
          <a:solidFill>
            <a:srgbClr val="0D3B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6492240" y="4215384"/>
            <a:ext cx="640080" cy="20116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4416552"/>
            <a:ext cx="2194560" cy="475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LNA_Nova_</a:t>
            </a:r>
            <a:br/>
            <a:r>
              <a:t>Meeting_Response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732520" y="4160520"/>
            <a:ext cx="2194560" cy="777240"/>
          </a:xfrm>
          <a:prstGeom prst="roundRect">
            <a:avLst/>
          </a:prstGeom>
          <a:solidFill>
            <a:srgbClr val="0D3B2A"/>
          </a:solidFill>
          <a:ln w="19050">
            <a:solidFill>
              <a:srgbClr val="2ECC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8823960" y="4215384"/>
            <a:ext cx="640080" cy="20116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732520" y="4416552"/>
            <a:ext cx="2194560" cy="475488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LNA_Nova_</a:t>
            </a:r>
            <a:br/>
            <a:r>
              <a:t>Opt_Out_Response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463040" y="4937760"/>
            <a:ext cx="0" cy="320040"/>
          </a:xfrm>
          <a:prstGeom prst="line">
            <a:avLst/>
          </a:prstGeom>
          <a:ln w="25400">
            <a:solidFill>
              <a:srgbClr val="2ECC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2560320" y="4937760"/>
            <a:ext cx="0" cy="320040"/>
          </a:xfrm>
          <a:prstGeom prst="line">
            <a:avLst/>
          </a:prstGeom>
          <a:ln w="25400">
            <a:solidFill>
              <a:srgbClr val="2ECC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4892040" y="4937760"/>
            <a:ext cx="0" cy="320040"/>
          </a:xfrm>
          <a:prstGeom prst="line">
            <a:avLst/>
          </a:prstGeom>
          <a:ln w="25400">
            <a:solidFill>
              <a:srgbClr val="2ECC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7498079" y="4937760"/>
            <a:ext cx="0" cy="320040"/>
          </a:xfrm>
          <a:prstGeom prst="line">
            <a:avLst/>
          </a:prstGeom>
          <a:ln w="25400">
            <a:solidFill>
              <a:srgbClr val="2ECC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829800" y="4937760"/>
            <a:ext cx="0" cy="320040"/>
          </a:xfrm>
          <a:prstGeom prst="line">
            <a:avLst/>
          </a:prstGeom>
          <a:ln w="25400">
            <a:solidFill>
              <a:srgbClr val="2ECC71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Rounded Rectangle 56"/>
          <p:cNvSpPr/>
          <p:nvPr/>
        </p:nvSpPr>
        <p:spPr>
          <a:xfrm>
            <a:off x="457200" y="5257800"/>
            <a:ext cx="1554480" cy="777240"/>
          </a:xfrm>
          <a:prstGeom prst="roundRect">
            <a:avLst/>
          </a:prstGeom>
          <a:solidFill>
            <a:srgbClr val="3D2A0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ounded Rectangle 57"/>
          <p:cNvSpPr/>
          <p:nvPr/>
        </p:nvSpPr>
        <p:spPr>
          <a:xfrm>
            <a:off x="530352" y="5312664"/>
            <a:ext cx="1051560" cy="20116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PROMPT TEMPLATE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57200" y="5513832"/>
            <a:ext cx="1554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Persona</a:t>
            </a:r>
            <a:br/>
            <a:r>
              <a:t>Detection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57200" y="5806440"/>
            <a:ext cx="1554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800" b="0">
                <a:solidFill>
                  <a:srgbClr val="777799"/>
                </a:solidFill>
                <a:latin typeface="Calibri"/>
              </a:defRPr>
            </a:pPr>
            <a:r>
              <a:t>GPT-4o Mini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2103120" y="5257800"/>
            <a:ext cx="1554480" cy="777240"/>
          </a:xfrm>
          <a:prstGeom prst="roundRect">
            <a:avLst/>
          </a:prstGeom>
          <a:solidFill>
            <a:srgbClr val="3D2A0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ounded Rectangle 61"/>
          <p:cNvSpPr/>
          <p:nvPr/>
        </p:nvSpPr>
        <p:spPr>
          <a:xfrm>
            <a:off x="2176272" y="5312664"/>
            <a:ext cx="1051560" cy="20116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PROMPT TEMPLATE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2103120" y="5513832"/>
            <a:ext cx="155448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Outreach</a:t>
            </a:r>
            <a:br/>
            <a:r>
              <a:t>Email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103120" y="5806440"/>
            <a:ext cx="155448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800" b="0">
                <a:solidFill>
                  <a:srgbClr val="777799"/>
                </a:solidFill>
                <a:latin typeface="Calibri"/>
              </a:defRPr>
            </a:pPr>
            <a:r>
              <a:t>Gemini 2.5 Flash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3931920" y="5257800"/>
            <a:ext cx="1920240" cy="777240"/>
          </a:xfrm>
          <a:prstGeom prst="roundRect">
            <a:avLst/>
          </a:prstGeom>
          <a:solidFill>
            <a:srgbClr val="3D2A0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ounded Rectangle 65"/>
          <p:cNvSpPr/>
          <p:nvPr/>
        </p:nvSpPr>
        <p:spPr>
          <a:xfrm>
            <a:off x="4005072" y="5312664"/>
            <a:ext cx="1051560" cy="20116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PROMPT TEMPLATE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3931920" y="5513832"/>
            <a:ext cx="19202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Follow-Up</a:t>
            </a:r>
            <a:br/>
            <a:r>
              <a:t>Nudge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3931920" y="5806440"/>
            <a:ext cx="1920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800" b="0">
                <a:solidFill>
                  <a:srgbClr val="777799"/>
                </a:solidFill>
                <a:latin typeface="Calibri"/>
              </a:defRPr>
            </a:pPr>
            <a:r>
              <a:t>Gemini 2.5 Flash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6537960" y="5257800"/>
            <a:ext cx="1920240" cy="777240"/>
          </a:xfrm>
          <a:prstGeom prst="roundRect">
            <a:avLst/>
          </a:prstGeom>
          <a:solidFill>
            <a:srgbClr val="3D2A0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ounded Rectangle 69"/>
          <p:cNvSpPr/>
          <p:nvPr/>
        </p:nvSpPr>
        <p:spPr>
          <a:xfrm>
            <a:off x="6611112" y="5312664"/>
            <a:ext cx="1051560" cy="20116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PROMPT TEMPLATE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37960" y="5513832"/>
            <a:ext cx="19202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Meeting</a:t>
            </a:r>
            <a:br/>
            <a:r>
              <a:t>Response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37960" y="5806440"/>
            <a:ext cx="1920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800" b="0">
                <a:solidFill>
                  <a:srgbClr val="777799"/>
                </a:solidFill>
                <a:latin typeface="Calibri"/>
              </a:defRPr>
            </a:pPr>
            <a:r>
              <a:t>Gemini 2.5 Flash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8869680" y="5257800"/>
            <a:ext cx="1920240" cy="777240"/>
          </a:xfrm>
          <a:prstGeom prst="roundRect">
            <a:avLst/>
          </a:prstGeom>
          <a:solidFill>
            <a:srgbClr val="3D2A0D"/>
          </a:solidFill>
          <a:ln w="1905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ounded Rectangle 73"/>
          <p:cNvSpPr/>
          <p:nvPr/>
        </p:nvSpPr>
        <p:spPr>
          <a:xfrm>
            <a:off x="8942832" y="5312664"/>
            <a:ext cx="1051560" cy="20116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600" b="1">
                <a:solidFill>
                  <a:srgbClr val="FFFFFF"/>
                </a:solidFill>
                <a:latin typeface="Calibri"/>
              </a:defRPr>
            </a:pPr>
            <a:r>
              <a:t>PROMPT TEMPLATE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8869680" y="5513832"/>
            <a:ext cx="1920240" cy="27432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Consolas"/>
              </a:defRPr>
            </a:pPr>
            <a:r>
              <a:t>Opt-Out</a:t>
            </a:r>
            <a:br/>
            <a:r>
              <a:t>Response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69680" y="5806440"/>
            <a:ext cx="1920240" cy="18288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ctr">
              <a:defRPr sz="800" b="0">
                <a:solidFill>
                  <a:srgbClr val="777799"/>
                </a:solidFill>
                <a:latin typeface="Calibri"/>
              </a:defRPr>
            </a:pPr>
            <a:r>
              <a:t>Gemini 2.5 Flash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48640" y="6263640"/>
            <a:ext cx="73152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1000" b="1">
                <a:solidFill>
                  <a:srgbClr val="777799"/>
                </a:solidFill>
                <a:latin typeface="Calibri"/>
              </a:defRPr>
            </a:pPr>
            <a:r>
              <a:t>Legend: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1371600" y="6281928"/>
            <a:ext cx="731520" cy="201168"/>
          </a:xfrm>
          <a:prstGeom prst="round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TOPIC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2194560" y="6263640"/>
            <a:ext cx="164592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800" b="0">
                <a:solidFill>
                  <a:srgbClr val="777799"/>
                </a:solidFill>
                <a:latin typeface="Calibri"/>
              </a:defRPr>
            </a:pPr>
            <a:r>
              <a:t>GenAiPlugin — scope &amp; guardrails</a:t>
            </a:r>
          </a:p>
        </p:txBody>
      </p:sp>
      <p:sp>
        <p:nvSpPr>
          <p:cNvPr id="80" name="Rounded Rectangle 79"/>
          <p:cNvSpPr/>
          <p:nvPr/>
        </p:nvSpPr>
        <p:spPr>
          <a:xfrm>
            <a:off x="4114800" y="6281928"/>
            <a:ext cx="731520" cy="201168"/>
          </a:xfrm>
          <a:prstGeom prst="round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FLOW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4937760" y="6263640"/>
            <a:ext cx="164592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800" b="0">
                <a:solidFill>
                  <a:srgbClr val="777799"/>
                </a:solidFill>
                <a:latin typeface="Calibri"/>
              </a:defRPr>
            </a:pPr>
            <a:r>
              <a:t>AutoLaunchedFlow — orchestration &amp; updates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6858000" y="6281928"/>
            <a:ext cx="1097280" cy="201168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PROMPT TEMPLATE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8046720" y="6263640"/>
            <a:ext cx="164592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800" b="0">
                <a:solidFill>
                  <a:srgbClr val="777799"/>
                </a:solidFill>
                <a:latin typeface="Calibri"/>
              </a:defRPr>
            </a:pPr>
            <a:r>
              <a:t>GenAiPromptTemplate — LLM generation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9601200" y="6281928"/>
            <a:ext cx="731520" cy="201168"/>
          </a:xfrm>
          <a:prstGeom prst="round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5400" rIns="25400" tIns="12700" bIns="12700"/>
          <a:lstStyle/>
          <a:p>
            <a:pPr algn="ctr">
              <a:defRPr sz="700" b="1">
                <a:solidFill>
                  <a:srgbClr val="FFFFFF"/>
                </a:solidFill>
                <a:latin typeface="Calibri"/>
              </a:defRPr>
            </a:pPr>
            <a:r>
              <a:t>ROUTER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424160" y="6263640"/>
            <a:ext cx="1645920" cy="228600"/>
          </a:xfrm>
          <a:prstGeom prst="rect">
            <a:avLst/>
          </a:prstGeom>
          <a:noFill/>
        </p:spPr>
        <p:txBody>
          <a:bodyPr wrap="square" lIns="50800" rIns="50800" tIns="25400" bIns="25400">
            <a:spAutoFit/>
          </a:bodyPr>
          <a:lstStyle/>
          <a:p>
            <a:pPr algn="l">
              <a:defRPr sz="800" b="0">
                <a:solidFill>
                  <a:srgbClr val="777799"/>
                </a:solidFill>
                <a:latin typeface="Calibri"/>
              </a:defRPr>
            </a:pPr>
            <a:r>
              <a:t>Planner selects based on reply content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
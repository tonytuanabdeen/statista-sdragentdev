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9AF5"/>
                </a:solidFill>
                <a:latin typeface="Calibri"/>
              </a:defRPr>
            </a:pPr>
            <a:r>
              <a:t>LNA Nova: Prompt Builder Re-Engineering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CC"/>
                </a:solidFill>
                <a:latin typeface="Calibri"/>
              </a:defRPr>
            </a:pPr>
            <a:r>
              <a:t>Why Re-Engineer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LNA Nova generates outreach emails across 4 topics. Today, only 1 of 4 uses Salesforce Prompt Builder — the other three embed ~8,000 words of generation logic directly in topic instructions, forcing the AI planner to orchestrate AND compose simultaneously.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560320"/>
          <a:ext cx="106984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  <a:gridCol w="429768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Inconsistent output quality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Planner-generated emails drift in tone, structure, compliance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Nudge emails include sign-offs, vary in length, miss reframe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Spelling locked to UK English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Cannot serve US market leads with US conventions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Every email says "organisation" regardless of country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Fragile record updates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Planner must recall exact picklist values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"Customer Not Interested" vs "Not Interested" → automation failures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High maintenance cost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Editing XML topic instructions requires full redeployment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No version control, no A/B testing, no prompt iteration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Cannot scale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New locale/industry = rewrite topic instructions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No modular pattern to extend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212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9AF5"/>
                </a:solidFill>
                <a:latin typeface="Calibri"/>
              </a:defRPr>
            </a:pPr>
            <a:r>
              <a:t>THE ASK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Approve the re-engineering effort to migrate all four topics to the Prompt Builder framework with locale-aware spelling (UK + US English), establishing a scalable pattern for future agent expansion.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Calibri"/>
              </a:defRPr>
            </a:pPr>
            <a:r>
              <a:t>Statista · FDE · Agentforce SDR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9AF5"/>
                </a:solidFill>
                <a:latin typeface="Calibri"/>
              </a:defRPr>
            </a:pPr>
            <a:r>
              <a:t>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BBBCC"/>
                </a:solidFill>
                <a:latin typeface="Calibri"/>
              </a:defRPr>
            </a:pPr>
            <a:r>
              <a:t>Design: Topic → Flow → Prompt Template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45720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TOPIC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9AF5"/>
                </a:solidFill>
                <a:latin typeface="Calibri"/>
              </a:defRPr>
            </a:pPr>
            <a:r>
              <a:t>Scope &amp; Guardrails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2 instructions:</a:t>
            </a:r>
            <a:br/>
            <a:r>
              <a:t>• What to do</a:t>
            </a:r>
            <a:br/>
            <a:r>
              <a:t>• Guardrails</a:t>
            </a:r>
            <a:br/>
            <a:br/>
            <a:r>
              <a:t>Planner decides</a:t>
            </a:r>
            <a:br/>
            <a:r>
              <a:t>WHEN, not HOW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554480"/>
            <a:ext cx="3383280" cy="457200"/>
          </a:xfrm>
          <a:prstGeom prst="roundRect">
            <a:avLst/>
          </a:prstGeom>
          <a:solidFill>
            <a:srgbClr val="6C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CD98B"/>
                </a:solidFill>
                <a:latin typeface="Calibri"/>
              </a:defRPr>
            </a:pPr>
            <a:r>
              <a:t>Orchestration &amp; Updates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24231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1. Get Lead (+Country)</a:t>
            </a:r>
            <a:br/>
            <a:r>
              <a:t>2. Resolve Locale</a:t>
            </a:r>
            <a:br/>
            <a:r>
              <a:t>3. Call Prompt Template</a:t>
            </a:r>
            <a:br/>
            <a:r>
              <a:t>4. Update records</a:t>
            </a:r>
            <a:br/>
            <a:r>
              <a:t>5. Return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3383280" cy="4572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PROMPT TEMPLATE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Calibri"/>
              </a:defRPr>
            </a:pPr>
            <a:r>
              <a:t>Generation &amp; Personalisation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231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Full generation logic</a:t>
            </a:r>
            <a:br/>
            <a:r>
              <a:t>with dynamic</a:t>
            </a:r>
            <a:br/>
            <a:r>
              <a:t>SpellingLocale input</a:t>
            </a:r>
            <a:br/>
            <a:br/>
            <a:r>
              <a:t>LLM decides 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A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A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D98B"/>
                </a:solidFill>
                <a:latin typeface="Calibri"/>
              </a:defRPr>
            </a:pPr>
            <a:r>
              <a:t>Locale Resolution (New Capability)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Lead.Country  →  Flow Decision  →  SpellingLocale ("UK" or "US")  →  Prompt Template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•  Deterministic — Flow-side decision, not LLM judgment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•  Extensible — Add Australian English by adding one Decision branch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•  Safe default — UK English for all non-US countries (matches current production)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•  US mapping — "United States", "USA", "US", "U.S.", "U.S.A.", Puerto Rico, Guam, territories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Calibri"/>
              </a:defRPr>
            </a:pPr>
            <a:r>
              <a:t>Statista · FDE · Agentforce SDR ·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9AF5"/>
                </a:solidFill>
                <a:latin typeface="Calibri"/>
              </a:defRPr>
            </a:pPr>
            <a:r>
              <a:t>What Changes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097280"/>
          <a:ext cx="106984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206240"/>
                <a:gridCol w="420624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Current State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Re-Engineered State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Topic Instructions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21 instructions (~8,000 words in XML)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8 instructions (~800 words — scope + guardrails)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Prompt Builder Templates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2 (Persona Detection + Outreach Email)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 (+Follow-Up Nudge, Meeting Response, Opt-Out)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Orchestration Flows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2 (Initial Outreach + Update Lead)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 (+Follow-Up Nudge, Meeting Response, Opt-Out)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Record Update Logic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Mixed — 2 in Flows, 2 rely on planner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100% in Flows — all values hardcoded declaratively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Planner Steps per Topic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3-5 (action calls + composition)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 (invoke flow)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Spelling Locales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 (UK only, hardcoded)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2 (UK + US, dynamic per Lead.Country)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Country in Flow Queries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 of 2 flows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4 of 5 flows (all customer-facing)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663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D98B"/>
                </a:solidFill>
                <a:latin typeface="Calibri"/>
              </a:defRPr>
            </a:pPr>
            <a:r>
              <a:t>New Deliverables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5029200"/>
          <a:ext cx="106984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926080"/>
                <a:gridCol w="2286000"/>
                <a:gridCol w="512064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Deliverable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Scope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LNA_Nova_Follow_Up_Nudge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Prompt Template + Flow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Migrate 6 topic instructions → 1 PT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LNA_Nova_Meeting_Response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Prompt Template + Flow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Migrate 7 topic instructions → 1 PT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LNA_Nova_Opt_Out_Response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PT + Flow + branching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Migrate 6 instructions → 1 PT + classification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Locale Resolution Layer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Flow Decision (x4)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Country → SpellingLocale mapping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Outreach Email + Initial Flow updates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PT + Flow modification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Add SpellingLocale input + Country query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All 4 topic updates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PlannerBundle mod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Reduce instructions, swap actions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US English test suite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Test data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Clone UK tests with Country = "United States"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Calibri"/>
              </a:defRPr>
            </a:pPr>
            <a:r>
              <a:t>Statista · FDE · Agentforce SDR ·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9AF5"/>
                </a:solidFill>
                <a:latin typeface="Calibri"/>
              </a:defRPr>
            </a:pPr>
            <a:r>
              <a:t>Delivery Plan &amp; Estimates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Phased rollout — each phase independently deployable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103120" cy="3108960"/>
          </a:xfrm>
          <a:prstGeom prst="roundRect">
            <a:avLst/>
          </a:prstGeom>
          <a:solidFill>
            <a:srgbClr val="23233D"/>
          </a:solidFill>
          <a:ln w="2540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600200"/>
            <a:ext cx="1828800" cy="320040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Locale</a:t>
            </a:r>
            <a:br/>
            <a: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Update existing</a:t>
            </a:r>
            <a:br/>
            <a:r>
              <a:t>flow + PT for</a:t>
            </a:r>
            <a:br/>
            <a:r>
              <a:t>locale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9AF5"/>
                </a:solidFill>
                <a:latin typeface="Calibri"/>
              </a:defRPr>
            </a:pPr>
            <a:r>
              <a:t>~2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4069080"/>
            <a:ext cx="1097280" cy="274320"/>
          </a:xfrm>
          <a:prstGeom prst="roundRect">
            <a:avLst/>
          </a:prstGeom>
          <a:solidFill>
            <a:srgbClr val="6C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LOW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1463040"/>
            <a:ext cx="2103120" cy="3108960"/>
          </a:xfrm>
          <a:prstGeom prst="roundRect">
            <a:avLst/>
          </a:prstGeom>
          <a:solidFill>
            <a:srgbClr val="23233D"/>
          </a:solidFill>
          <a:ln w="25400">
            <a:solidFill>
              <a:srgbClr val="6C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80360" y="1600200"/>
            <a:ext cx="1828800" cy="320040"/>
          </a:xfrm>
          <a:prstGeom prst="roundRect">
            <a:avLst/>
          </a:prstGeom>
          <a:solidFill>
            <a:srgbClr val="6C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Follow-Up</a:t>
            </a:r>
            <a:br/>
            <a:r>
              <a:t>Outreach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060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New PT + Flow</a:t>
            </a:r>
            <a:br/>
            <a:r>
              <a:t>Update topic</a:t>
            </a:r>
            <a:br/>
            <a:r>
              <a:t>No record updates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D98B"/>
                </a:solidFill>
                <a:latin typeface="Calibri"/>
              </a:defRPr>
            </a:pPr>
            <a:r>
              <a:t>~3 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4069080"/>
            <a:ext cx="1097280" cy="274320"/>
          </a:xfrm>
          <a:prstGeom prst="roundRect">
            <a:avLst/>
          </a:prstGeom>
          <a:solidFill>
            <a:srgbClr val="6C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LOW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463040"/>
            <a:ext cx="2103120" cy="3108960"/>
          </a:xfrm>
          <a:prstGeom prst="roundRect">
            <a:avLst/>
          </a:prstGeom>
          <a:solidFill>
            <a:srgbClr val="23233D"/>
          </a:solidFill>
          <a:ln w="254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66360" y="1600200"/>
            <a:ext cx="1828800" cy="32004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Meeting</a:t>
            </a:r>
            <a:br/>
            <a:r>
              <a:t>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6060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New PT + Flow</a:t>
            </a:r>
            <a:br/>
            <a:r>
              <a:t>Update topic</a:t>
            </a:r>
            <a:br/>
            <a:r>
              <a:t>1 record 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Calibri"/>
              </a:defRPr>
            </a:pPr>
            <a:r>
              <a:t>~3 days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6360" y="4069080"/>
            <a:ext cx="1097280" cy="27432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MEDIUM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463040"/>
            <a:ext cx="2103120" cy="3108960"/>
          </a:xfrm>
          <a:prstGeom prst="roundRect">
            <a:avLst/>
          </a:prstGeom>
          <a:solidFill>
            <a:srgbClr val="23233D"/>
          </a:solidFill>
          <a:ln w="25400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52360" y="1600200"/>
            <a:ext cx="1828800" cy="320040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Opt-Out</a:t>
            </a:r>
            <a:br/>
            <a:r>
              <a:t>Response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6060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New PT + Flow</a:t>
            </a:r>
            <a:br/>
            <a:r>
              <a:t>3-way classification</a:t>
            </a:r>
            <a:br/>
            <a:r>
              <a:t>Compliance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5D75"/>
                </a:solidFill>
                <a:latin typeface="Calibri"/>
              </a:defRPr>
            </a:pPr>
            <a:r>
              <a:t>~4 days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4069080"/>
            <a:ext cx="1097280" cy="274320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HIGHEST RISK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01200" y="1463040"/>
            <a:ext cx="2103120" cy="3108960"/>
          </a:xfrm>
          <a:prstGeom prst="roundRect">
            <a:avLst/>
          </a:prstGeom>
          <a:solidFill>
            <a:srgbClr val="23233D"/>
          </a:solidFill>
          <a:ln w="254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38360" y="1600200"/>
            <a:ext cx="1828800" cy="320040"/>
          </a:xfrm>
          <a:prstGeom prst="round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8360" y="2011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Cleanup &amp;</a:t>
            </a:r>
            <a:br/>
            <a:r>
              <a:t>Deployment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606040"/>
            <a:ext cx="1828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US test suite</a:t>
            </a:r>
            <a:br/>
            <a:r>
              <a:t>package.xml</a:t>
            </a:r>
            <a:br/>
            <a:r>
              <a:t>Full regression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3657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AA"/>
                </a:solidFill>
                <a:latin typeface="Calibri"/>
              </a:defRPr>
            </a:pPr>
            <a:r>
              <a:t>~2 days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60" y="4069080"/>
            <a:ext cx="1097280" cy="274320"/>
          </a:xfrm>
          <a:prstGeom prst="roundRect">
            <a:avLst/>
          </a:prstGeom>
          <a:solidFill>
            <a:srgbClr val="6C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LOW RISK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846320"/>
            <a:ext cx="10698480" cy="640080"/>
          </a:xfrm>
          <a:prstGeom prst="roundRect">
            <a:avLst/>
          </a:prstGeom>
          <a:solidFill>
            <a:srgbClr val="2D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9194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Total Estimate: ~14 days    |    5 phases    |    Each phase independently deployable    |    Zero downtime between phases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69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9AF5"/>
                </a:solidFill>
                <a:latin typeface="Calibri"/>
              </a:defRPr>
            </a:pPr>
            <a:r>
              <a:t>Key Dependencies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BBBBCC"/>
                </a:solidFill>
                <a:latin typeface="Calibri"/>
              </a:defRPr>
            </a:pPr>
            <a:r>
              <a:t>•  Salesforce org access for scratch org testing   •  Knowledge articles must remain published   •  Country field values validated against locale mapping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Calibri"/>
              </a:defRPr>
            </a:pPr>
            <a:r>
              <a:t>Statista · FDE · Agentforce SDR ·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4E9AF5"/>
                </a:solidFill>
                <a:latin typeface="Calibri"/>
              </a:defRPr>
            </a:pPr>
            <a:r>
              <a:t>Return on Investment &amp; Scale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D98B"/>
                </a:solidFill>
                <a:latin typeface="Calibri"/>
              </a:defRPr>
            </a:pPr>
            <a:r>
              <a:t>Immediate Returns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502920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544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Benefit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US market readiness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Locales: 1 → 2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US lead outreach without manual editing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Output consistency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Planner steps: 3-5 → 1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Same structure every invocation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Record reliability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LLM field deps: 3 → 0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Zero picklist value errors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Iteration speed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Edit PT → publish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No agent bundle redeployment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Maintenance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8,000 → 800 words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90% less prompt logic to maintain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17920" y="10058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A623"/>
                </a:solidFill>
                <a:latin typeface="Calibri"/>
              </a:defRPr>
            </a:pPr>
            <a:r>
              <a:t>Future Scale: What This Enables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17920" y="1371600"/>
          <a:ext cx="52120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65176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to Build</a:t>
                      </a:r>
                    </a:p>
                  </a:txBody>
                  <a:tcPr anchor="ctr">
                    <a:solidFill>
                      <a:srgbClr val="2D2D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New locale (e.g., AU English)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 Decision branch per Flow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New industry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 ICP Knowledge article + Flow branch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New cadence stage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 Topic + 1 Flow + 1 PT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New agent (e.g., CS Rep)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Clone pattern, swap prompts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A/B testing variants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PT version management in UI</a:t>
                      </a:r>
                    </a:p>
                  </a:txBody>
                  <a:tcPr anchor="ctr">
                    <a:solidFill>
                      <a:srgbClr val="1F1F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Model swap (Gemini → Claude)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Change primaryModel in PT metadata</a:t>
                      </a:r>
                    </a:p>
                  </a:txBody>
                  <a:tcPr anchor="ctr">
                    <a:solidFill>
                      <a:srgbClr val="28284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206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Architecture Maturity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17720"/>
            <a:ext cx="2011680" cy="365760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Monolithic (8K words in topics)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Fragile (planner composes emails)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UK-only (hardcoded spelling)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1 of 4 topics uses Prompt Builder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617720"/>
            <a:ext cx="2011680" cy="365760"/>
          </a:xfrm>
          <a:prstGeom prst="roundRect">
            <a:avLst/>
          </a:prstGeom>
          <a:solidFill>
            <a:srgbClr val="6CD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RE-ENGINEERED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0749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Modular (800 words — scope only)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Deterministic (Flow orchestration)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Locale-aware (UK + US dynamic)</a:t>
            </a:r>
          </a:p>
          <a:p>
            <a:pPr algn="l"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BBBBCC"/>
                </a:solidFill>
                <a:latin typeface="Calibri"/>
              </a:defRPr>
            </a:pPr>
            <a:r>
              <a:t>•  4 of 4 topics use Prompt Builder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4709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4E9AF5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943600"/>
            <a:ext cx="10698480" cy="411480"/>
          </a:xfrm>
          <a:prstGeom prst="roundRect">
            <a:avLst/>
          </a:prstGeom>
          <a:solidFill>
            <a:srgbClr val="1A3A1A"/>
          </a:solidFill>
          <a:ln w="25400">
            <a:solidFill>
              <a:srgbClr val="6CD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96188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D98B"/>
                </a:solidFill>
                <a:latin typeface="Calibri"/>
              </a:defRPr>
            </a:pPr>
            <a:r>
              <a:t>Recommendation: Approve the 14-day effort across 5 phases. Pays for itself immediately via US market enablement; compounds as each new locale, industry, or agent reuses the pattern.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  <a:latin typeface="Calibri"/>
              </a:defRPr>
            </a:pPr>
            <a:r>
              <a:t>Statista · FDE · Agentforce SDR ·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